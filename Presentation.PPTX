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4"/>
  </p:notesMasterIdLst>
  <p:sldIdLst>
    <p:sldId id="258" r:id="rId2"/>
    <p:sldId id="276" r:id="rId3"/>
    <p:sldId id="278" r:id="rId4"/>
    <p:sldId id="280" r:id="rId5"/>
    <p:sldId id="281" r:id="rId6"/>
    <p:sldId id="282" r:id="rId7"/>
    <p:sldId id="283" r:id="rId8"/>
    <p:sldId id="290" r:id="rId9"/>
    <p:sldId id="284" r:id="rId10"/>
    <p:sldId id="286" r:id="rId11"/>
    <p:sldId id="285" r:id="rId12"/>
    <p:sldId id="28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8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3" autoAdjust="0"/>
    <p:restoredTop sz="94637" autoAdjust="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>
        <p:guide orient="horz" pos="318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57218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3785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6683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5526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5559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2876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7469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9631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0728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0901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364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you may find useful: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The area of my research covers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Today … has been already studied in the field.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79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">
  <p:cSld name="Speak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952416" y="2047258"/>
            <a:ext cx="5803900" cy="19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6116583" y="4190514"/>
            <a:ext cx="4639733" cy="39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3"/>
          </p:nvPr>
        </p:nvSpPr>
        <p:spPr>
          <a:xfrm>
            <a:off x="6116583" y="5117646"/>
            <a:ext cx="4639733" cy="138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>
            <a:spLocks noGrp="1"/>
          </p:cNvSpPr>
          <p:nvPr>
            <p:ph type="pic" idx="4"/>
          </p:nvPr>
        </p:nvSpPr>
        <p:spPr>
          <a:xfrm>
            <a:off x="1018584" y="1101667"/>
            <a:ext cx="3481387" cy="348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10194586" y="-1997414"/>
            <a:ext cx="3994827" cy="3994827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ver+partners">
  <p:cSld name="2_Cover+partners">
    <p:bg>
      <p:bgPr>
        <a:solidFill>
          <a:srgbClr val="AAC50B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"/>
          <p:cNvPicPr preferRelativeResize="0"/>
          <p:nvPr/>
        </p:nvPicPr>
        <p:blipFill rotWithShape="1">
          <a:blip r:embed="rId2">
            <a:alphaModFix/>
          </a:blip>
          <a:srcRect b="40050"/>
          <a:stretch/>
        </p:blipFill>
        <p:spPr>
          <a:xfrm rot="-5400000">
            <a:off x="9483100" y="2054836"/>
            <a:ext cx="3500015" cy="66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8"/>
          <p:cNvPicPr preferRelativeResize="0"/>
          <p:nvPr/>
        </p:nvPicPr>
        <p:blipFill rotWithShape="1">
          <a:blip r:embed="rId3">
            <a:alphaModFix/>
          </a:blip>
          <a:srcRect t="50017"/>
          <a:stretch/>
        </p:blipFill>
        <p:spPr>
          <a:xfrm>
            <a:off x="0" y="4133741"/>
            <a:ext cx="12192001" cy="27242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1052215" y="635886"/>
            <a:ext cx="7977485" cy="435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1052215" y="5595431"/>
            <a:ext cx="2457467" cy="4376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70" name="Google Shape;70;p8"/>
          <p:cNvCxnSpPr/>
          <p:nvPr/>
        </p:nvCxnSpPr>
        <p:spPr>
          <a:xfrm>
            <a:off x="5715001" y="5785757"/>
            <a:ext cx="5600700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1" name="Google Shape;71;p8"/>
          <p:cNvCxnSpPr/>
          <p:nvPr/>
        </p:nvCxnSpPr>
        <p:spPr>
          <a:xfrm>
            <a:off x="11283043" y="4310743"/>
            <a:ext cx="0" cy="1475014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  <p15:guide id="2" orient="horz" pos="24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peaker">
  <p:cSld name="1_Speak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1"/>
          </p:nvPr>
        </p:nvSpPr>
        <p:spPr>
          <a:xfrm>
            <a:off x="4952416" y="2047258"/>
            <a:ext cx="5803900" cy="19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2"/>
          </p:nvPr>
        </p:nvSpPr>
        <p:spPr>
          <a:xfrm>
            <a:off x="6116583" y="4190514"/>
            <a:ext cx="4639733" cy="39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3"/>
          </p:nvPr>
        </p:nvSpPr>
        <p:spPr>
          <a:xfrm>
            <a:off x="6116583" y="5117646"/>
            <a:ext cx="4639733" cy="138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9"/>
          <p:cNvSpPr>
            <a:spLocks noGrp="1"/>
          </p:cNvSpPr>
          <p:nvPr>
            <p:ph type="pic" idx="4"/>
          </p:nvPr>
        </p:nvSpPr>
        <p:spPr>
          <a:xfrm>
            <a:off x="1018584" y="1101667"/>
            <a:ext cx="3481387" cy="348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/>
          <p:nvPr/>
        </p:nvSpPr>
        <p:spPr>
          <a:xfrm>
            <a:off x="10194586" y="-1997414"/>
            <a:ext cx="3994827" cy="3994827"/>
          </a:xfrm>
          <a:prstGeom prst="pie">
            <a:avLst>
              <a:gd name="adj1" fmla="val 5396160"/>
              <a:gd name="adj2" fmla="val 10809062"/>
            </a:avLst>
          </a:prstGeom>
          <a:solidFill>
            <a:srgbClr val="AAC5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peaker: bio">
  <p:cSld name="1_Speaker: bio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3139624" y="365123"/>
            <a:ext cx="7847862" cy="605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2"/>
          </p:nvPr>
        </p:nvSpPr>
        <p:spPr>
          <a:xfrm>
            <a:off x="796243" y="2541481"/>
            <a:ext cx="884512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3"/>
          </p:nvPr>
        </p:nvSpPr>
        <p:spPr>
          <a:xfrm>
            <a:off x="796242" y="3493118"/>
            <a:ext cx="2159000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8840264" y="2512345"/>
            <a:ext cx="5941050" cy="1646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0" b="1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about me</a:t>
            </a:r>
            <a:endParaRPr sz="10100" b="1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>
            <a:spLocks noGrp="1"/>
          </p:cNvSpPr>
          <p:nvPr>
            <p:ph type="pic" idx="4"/>
          </p:nvPr>
        </p:nvSpPr>
        <p:spPr>
          <a:xfrm>
            <a:off x="796242" y="365122"/>
            <a:ext cx="2060615" cy="206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5"/>
          </p:nvPr>
        </p:nvSpPr>
        <p:spPr>
          <a:xfrm>
            <a:off x="796242" y="2974142"/>
            <a:ext cx="127448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: basic">
  <p:cSld name="1_Contact: basic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1"/>
          </p:nvPr>
        </p:nvSpPr>
        <p:spPr>
          <a:xfrm>
            <a:off x="938280" y="1426345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/>
          <p:nvPr/>
        </p:nvSpPr>
        <p:spPr>
          <a:xfrm rot="-5400000">
            <a:off x="9019740" y="2400979"/>
            <a:ext cx="5429692" cy="18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sz="11500" b="1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938280" y="86804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1"/>
          <p:cNvSpPr txBox="1"/>
          <p:nvPr/>
        </p:nvSpPr>
        <p:spPr>
          <a:xfrm>
            <a:off x="938280" y="251449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phone: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2"/>
          </p:nvPr>
        </p:nvSpPr>
        <p:spPr>
          <a:xfrm>
            <a:off x="938280" y="3054843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3"/>
          </p:nvPr>
        </p:nvSpPr>
        <p:spPr>
          <a:xfrm>
            <a:off x="938280" y="3983034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act: advanced">
  <p:cSld name="1_Contact: advanced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>
            <a:off x="938280" y="1426345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/>
          <p:nvPr/>
        </p:nvSpPr>
        <p:spPr>
          <a:xfrm rot="-5400000">
            <a:off x="9019740" y="2400979"/>
            <a:ext cx="5429692" cy="18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sz="11500" b="1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2"/>
          <p:cNvSpPr txBox="1"/>
          <p:nvPr/>
        </p:nvSpPr>
        <p:spPr>
          <a:xfrm>
            <a:off x="938280" y="86804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 txBox="1"/>
          <p:nvPr/>
        </p:nvSpPr>
        <p:spPr>
          <a:xfrm>
            <a:off x="938280" y="251449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phone: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2"/>
          </p:nvPr>
        </p:nvSpPr>
        <p:spPr>
          <a:xfrm>
            <a:off x="938280" y="3054843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body" idx="3"/>
          </p:nvPr>
        </p:nvSpPr>
        <p:spPr>
          <a:xfrm>
            <a:off x="938280" y="3983034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sz="4800" b="1" i="0" u="none" strike="noStrike" cap="non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/>
          <p:nvPr/>
        </p:nvSpPr>
        <p:spPr>
          <a:xfrm>
            <a:off x="938280" y="5980919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social:</a:t>
            </a:r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24312" y="6029069"/>
            <a:ext cx="252042" cy="252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2660" y="6029069"/>
            <a:ext cx="252042" cy="252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6910" y="6023543"/>
            <a:ext cx="252042" cy="25204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 txBox="1">
            <a:spLocks noGrp="1"/>
          </p:cNvSpPr>
          <p:nvPr>
            <p:ph type="body" idx="4"/>
          </p:nvPr>
        </p:nvSpPr>
        <p:spPr>
          <a:xfrm>
            <a:off x="2667434" y="6002231"/>
            <a:ext cx="2383701" cy="29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body" idx="5"/>
          </p:nvPr>
        </p:nvSpPr>
        <p:spPr>
          <a:xfrm>
            <a:off x="5713849" y="6002231"/>
            <a:ext cx="2547933" cy="29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body" idx="6"/>
          </p:nvPr>
        </p:nvSpPr>
        <p:spPr>
          <a:xfrm>
            <a:off x="8839599" y="5980919"/>
            <a:ext cx="2541779" cy="29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ver+partners">
  <p:cSld name="3_Cover+partners">
    <p:bg>
      <p:bgPr>
        <a:solidFill>
          <a:srgbClr val="AAC50B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/>
        </p:nvSpPr>
        <p:spPr>
          <a:xfrm>
            <a:off x="921748" y="182880"/>
            <a:ext cx="9472204" cy="264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thx.</a:t>
            </a:r>
            <a:endParaRPr sz="16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3"/>
          <p:cNvPicPr preferRelativeResize="0"/>
          <p:nvPr/>
        </p:nvPicPr>
        <p:blipFill rotWithShape="1">
          <a:blip r:embed="rId2">
            <a:alphaModFix/>
          </a:blip>
          <a:srcRect b="40050"/>
          <a:stretch/>
        </p:blipFill>
        <p:spPr>
          <a:xfrm rot="-5400000">
            <a:off x="9483100" y="2054836"/>
            <a:ext cx="3500015" cy="66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/>
          <p:cNvPicPr preferRelativeResize="0"/>
          <p:nvPr/>
        </p:nvPicPr>
        <p:blipFill rotWithShape="1">
          <a:blip r:embed="rId3">
            <a:alphaModFix/>
          </a:blip>
          <a:srcRect t="50017"/>
          <a:stretch/>
        </p:blipFill>
        <p:spPr>
          <a:xfrm>
            <a:off x="0" y="4133741"/>
            <a:ext cx="12192001" cy="27242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3"/>
          <p:cNvCxnSpPr/>
          <p:nvPr/>
        </p:nvCxnSpPr>
        <p:spPr>
          <a:xfrm>
            <a:off x="0" y="5785757"/>
            <a:ext cx="11315701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11283043" y="4310743"/>
            <a:ext cx="0" cy="1475014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  <p15:guide id="2" orient="horz" pos="24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539519" y="1074822"/>
            <a:ext cx="2856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i="1" dirty="0"/>
              <a:t>Math of Machine Learning</a:t>
            </a:r>
            <a:endParaRPr lang="ru-RU" sz="1600" i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52081" y="1872235"/>
            <a:ext cx="9287838" cy="155676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000" dirty="0"/>
              <a:t>Classification of toxic and inappropriate texts on sensitive topics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339119" y="4346718"/>
            <a:ext cx="6400800" cy="67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r"/>
            <a:r>
              <a:rPr lang="en-US" sz="2000" b="0" dirty="0"/>
              <a:t>Student: </a:t>
            </a:r>
            <a:r>
              <a:rPr lang="en-US" sz="2000" b="0" i="1" dirty="0"/>
              <a:t>Kundyz Onlabek</a:t>
            </a:r>
          </a:p>
          <a:p>
            <a:pPr algn="r"/>
            <a:r>
              <a:rPr lang="en-US" sz="2000" b="0" dirty="0"/>
              <a:t>Research Advisor: </a:t>
            </a:r>
            <a:r>
              <a:rPr lang="en-US" sz="2000" b="0" i="1" dirty="0"/>
              <a:t>Dmitry </a:t>
            </a:r>
            <a:r>
              <a:rPr lang="en-US" sz="2000" b="0" i="1" dirty="0" err="1"/>
              <a:t>Ilvovsky</a:t>
            </a:r>
            <a:endParaRPr lang="en-US" dirty="0"/>
          </a:p>
          <a:p>
            <a:pPr indent="-457200">
              <a:buFontTx/>
              <a:buChar char="-"/>
            </a:pPr>
            <a:endParaRPr lang="en-US" dirty="0"/>
          </a:p>
          <a:p>
            <a:pPr marL="0" indent="0"/>
            <a:endParaRPr lang="en-US" dirty="0"/>
          </a:p>
          <a:p>
            <a:pPr marL="0" indent="0"/>
            <a:endParaRPr lang="en-US" dirty="0"/>
          </a:p>
          <a:p>
            <a:pPr marL="0" indent="0"/>
            <a:endParaRPr lang="en-US" dirty="0"/>
          </a:p>
          <a:p>
            <a:pPr marL="0" indent="0"/>
            <a:endParaRPr lang="en-US" dirty="0"/>
          </a:p>
        </p:txBody>
      </p:sp>
      <p:sp>
        <p:nvSpPr>
          <p:cNvPr id="9" name="Subtitle 1"/>
          <p:cNvSpPr txBox="1">
            <a:spLocks/>
          </p:cNvSpPr>
          <p:nvPr/>
        </p:nvSpPr>
        <p:spPr>
          <a:xfrm>
            <a:off x="2895600" y="5938164"/>
            <a:ext cx="6400800" cy="34003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3200" b="0" kern="1200">
                <a:solidFill>
                  <a:srgbClr val="595959"/>
                </a:solidFill>
                <a:latin typeface="Arial Unicode MS"/>
                <a:ea typeface="+mn-ea"/>
                <a:cs typeface="Arial Unicode MS"/>
              </a:defRPr>
            </a:lvl1pPr>
            <a:lvl2pPr marL="4572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Arial Unicode MS"/>
                <a:ea typeface="+mn-ea"/>
                <a:cs typeface="Arial Unicode MS"/>
              </a:defRPr>
            </a:lvl2pPr>
            <a:lvl3pPr marL="9144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Arial Unicode MS"/>
                <a:ea typeface="+mn-ea"/>
                <a:cs typeface="Arial Unicode MS"/>
              </a:defRPr>
            </a:lvl3pPr>
            <a:lvl4pPr marL="13716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Arial Unicode MS"/>
                <a:ea typeface="+mn-ea"/>
                <a:cs typeface="Arial Unicode MS"/>
              </a:defRPr>
            </a:lvl4pPr>
            <a:lvl5pPr marL="18288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Arial Unicode MS"/>
                <a:ea typeface="+mn-ea"/>
                <a:cs typeface="Arial Unicode MS"/>
              </a:defRPr>
            </a:lvl5pPr>
            <a:lvl6pPr marL="22860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June, 2022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Introduction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6786" y="1638837"/>
            <a:ext cx="9894371" cy="397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/>
            <a:r>
              <a:rPr lang="en-US" sz="2800" b="0" dirty="0"/>
              <a:t>• </a:t>
            </a:r>
            <a:r>
              <a:rPr lang="en-US" sz="2800" dirty="0"/>
              <a:t>Toxicity</a:t>
            </a:r>
            <a:r>
              <a:rPr lang="en-US" sz="2800" b="0" dirty="0"/>
              <a:t> in online communication</a:t>
            </a:r>
          </a:p>
          <a:p>
            <a:pPr indent="0"/>
            <a:r>
              <a:rPr lang="en-US" sz="2800" b="0" dirty="0"/>
              <a:t>• Big language models (i.e., GPT-2) trained on </a:t>
            </a:r>
            <a:r>
              <a:rPr lang="en-US" sz="2800" dirty="0"/>
              <a:t>toxic data</a:t>
            </a:r>
          </a:p>
          <a:p>
            <a:pPr indent="0"/>
            <a:r>
              <a:rPr lang="en-US" sz="2800" b="0" dirty="0"/>
              <a:t>• </a:t>
            </a:r>
            <a:r>
              <a:rPr lang="en-US" sz="2800" dirty="0"/>
              <a:t>Chatbot</a:t>
            </a:r>
            <a:r>
              <a:rPr lang="en-US" sz="2800" b="0" dirty="0"/>
              <a:t> problems: Tay, Luda Lee, Alice, Oleg</a:t>
            </a:r>
          </a:p>
          <a:p>
            <a:pPr indent="0"/>
            <a:r>
              <a:rPr lang="en-US" sz="2800" b="0" dirty="0"/>
              <a:t>• </a:t>
            </a:r>
            <a:r>
              <a:rPr lang="en-US" sz="2800" dirty="0"/>
              <a:t>Inappropriateness</a:t>
            </a:r>
            <a:r>
              <a:rPr lang="en-US" sz="2800" b="0" dirty="0"/>
              <a:t> (larger class than toxicity):</a:t>
            </a:r>
          </a:p>
          <a:p>
            <a:pPr indent="0"/>
            <a:r>
              <a:rPr lang="en-US" sz="2800" b="0" dirty="0"/>
              <a:t>	- Messages that can offend an individual or a group of 	  people by inflicting insult, threat, generalization, 		  incorrect information, or disrespectfully raising 		  sensitive concerns</a:t>
            </a:r>
          </a:p>
          <a:p>
            <a:pPr indent="0"/>
            <a:r>
              <a:rPr lang="en-US" sz="2800" b="0" dirty="0"/>
              <a:t>	- Messages that can endanger a person’s health if they 	  follow the message’s advice or logic</a:t>
            </a:r>
          </a:p>
          <a:p>
            <a:pPr marL="914400" indent="-457200">
              <a:buFontTx/>
              <a:buChar char="-"/>
            </a:pPr>
            <a:endParaRPr lang="en-US" sz="2800" b="0" dirty="0"/>
          </a:p>
          <a:p>
            <a:pPr indent="0"/>
            <a:endParaRPr lang="en-US" sz="2800" b="0" dirty="0"/>
          </a:p>
          <a:p>
            <a:pPr marL="914400" indent="-457200">
              <a:buFontTx/>
              <a:buChar char="-"/>
            </a:pPr>
            <a:endParaRPr lang="ru-RU" sz="28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5CD56-6FFC-EA5D-C211-4C990F288D2C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0713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Aim and objectives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6786" y="1638837"/>
            <a:ext cx="9894371" cy="397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/>
            <a:r>
              <a:rPr lang="en-US" sz="2800" b="0" dirty="0"/>
              <a:t>• Work with </a:t>
            </a:r>
            <a:r>
              <a:rPr lang="en-US" sz="2800" dirty="0"/>
              <a:t>inappropriate</a:t>
            </a:r>
            <a:r>
              <a:rPr lang="en-US" sz="2800" b="0" dirty="0"/>
              <a:t> texts for the </a:t>
            </a:r>
            <a:r>
              <a:rPr lang="en-US" sz="2800" dirty="0"/>
              <a:t>Russian</a:t>
            </a:r>
            <a:r>
              <a:rPr lang="en-US" sz="2800" b="0" dirty="0"/>
              <a:t> language</a:t>
            </a:r>
          </a:p>
          <a:p>
            <a:pPr indent="0"/>
            <a:r>
              <a:rPr lang="en-US" sz="2800" b="0" dirty="0"/>
              <a:t>• Text </a:t>
            </a:r>
            <a:r>
              <a:rPr lang="en-US" sz="2800" dirty="0"/>
              <a:t>classification </a:t>
            </a:r>
            <a:r>
              <a:rPr lang="en-US" sz="2800" b="0" dirty="0"/>
              <a:t>and</a:t>
            </a:r>
            <a:r>
              <a:rPr lang="en-US" sz="2800" dirty="0"/>
              <a:t> detoxification</a:t>
            </a:r>
            <a:r>
              <a:rPr lang="en-US" sz="2800" b="0" dirty="0"/>
              <a:t>: </a:t>
            </a:r>
          </a:p>
          <a:p>
            <a:pPr indent="0"/>
            <a:r>
              <a:rPr lang="en-US" sz="2800" b="0" dirty="0"/>
              <a:t>	investigate which machine learning models work better 	in the classification of inappropriate data and then 	detoxify it</a:t>
            </a:r>
          </a:p>
          <a:p>
            <a:pPr indent="0"/>
            <a:r>
              <a:rPr lang="en-US" sz="2800" b="0" dirty="0"/>
              <a:t>• Research gap: </a:t>
            </a:r>
          </a:p>
          <a:p>
            <a:pPr indent="0"/>
            <a:r>
              <a:rPr lang="en-US" sz="2800" b="0" dirty="0"/>
              <a:t>	the existing models are created and trained to solve 	mainly </a:t>
            </a:r>
            <a:r>
              <a:rPr lang="en-US" sz="2800" dirty="0"/>
              <a:t>English</a:t>
            </a:r>
            <a:r>
              <a:rPr lang="en-US" sz="2800" b="0" dirty="0"/>
              <a:t> language problems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F8874CD-D89D-EE04-6E09-6545D3FFF193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5769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Methods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B531F8-567C-2E96-7AB7-D4418E943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6" y="1535367"/>
            <a:ext cx="5669214" cy="3787266"/>
          </a:xfrm>
          <a:prstGeom prst="rect">
            <a:avLst/>
          </a:prstGeom>
        </p:spPr>
      </p:pic>
      <p:pic>
        <p:nvPicPr>
          <p:cNvPr id="8" name="Рисунок 7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727AC683-011F-42DD-F0AB-B8F4AC481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887" y="609511"/>
            <a:ext cx="4024542" cy="5639131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C0B9077-8C15-E0E0-A2F4-12058D3A8EBA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983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Methods</a:t>
            </a:r>
          </a:p>
        </p:txBody>
      </p:sp>
      <p:pic>
        <p:nvPicPr>
          <p:cNvPr id="5" name="Рисунок 4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2E1185FB-33A6-34F3-550E-3DA6D8889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576" y="1409571"/>
            <a:ext cx="9010848" cy="486862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453714D-C1A9-9166-D93E-BF06CE590394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3195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Methods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6786" y="1638837"/>
            <a:ext cx="9894371" cy="397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/>
            <a:r>
              <a:rPr lang="en-US" sz="2800" b="0" dirty="0"/>
              <a:t>• Text classification:</a:t>
            </a:r>
          </a:p>
          <a:p>
            <a:pPr indent="0"/>
            <a:r>
              <a:rPr lang="en-US" sz="2800" b="0" dirty="0"/>
              <a:t>	- Logistic regression</a:t>
            </a:r>
          </a:p>
          <a:p>
            <a:pPr indent="0"/>
            <a:r>
              <a:rPr lang="en-US" sz="2800" b="0" dirty="0"/>
              <a:t>	- BERT</a:t>
            </a:r>
          </a:p>
          <a:p>
            <a:pPr indent="0"/>
            <a:r>
              <a:rPr lang="en-US" sz="2800" b="0" dirty="0"/>
              <a:t>	- Main method: </a:t>
            </a:r>
          </a:p>
          <a:p>
            <a:pPr indent="0"/>
            <a:r>
              <a:rPr lang="en-US" sz="2800" b="0" dirty="0"/>
              <a:t>		multilabel classifier + weight averaging trick + 			additional tokens + sentence transformation and 		final tuning</a:t>
            </a:r>
          </a:p>
          <a:p>
            <a:pPr indent="0"/>
            <a:endParaRPr lang="en-US" sz="2800" b="0" dirty="0"/>
          </a:p>
          <a:p>
            <a:pPr indent="0"/>
            <a:r>
              <a:rPr lang="en-US" sz="2800" b="0" dirty="0"/>
              <a:t>• Text detoxification:</a:t>
            </a:r>
          </a:p>
          <a:p>
            <a:pPr indent="0"/>
            <a:r>
              <a:rPr lang="en-US" sz="2800" b="0" dirty="0"/>
              <a:t>	- RuGPT3 model </a:t>
            </a:r>
          </a:p>
          <a:p>
            <a:pPr indent="0"/>
            <a:endParaRPr lang="en-US" sz="2800" b="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35B5BC0-09ED-38FD-8822-279278DFCFD7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95384B-C974-0830-D2CB-E4E3DEF96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907" y="4864653"/>
            <a:ext cx="6582005" cy="103051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AAFB9B6-FE83-4D6A-9087-4214B1E8B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051" y="962832"/>
            <a:ext cx="4947186" cy="20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57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R</a:t>
            </a:r>
            <a:r>
              <a:rPr lang="ru-RU" sz="4000" dirty="0" err="1"/>
              <a:t>esults</a:t>
            </a:r>
            <a:r>
              <a:rPr lang="en-US" sz="4000" dirty="0"/>
              <a:t> and discussion</a:t>
            </a:r>
            <a:r>
              <a:rPr lang="ru-RU" sz="4000" dirty="0"/>
              <a:t> </a:t>
            </a:r>
            <a:endParaRPr lang="en-US" sz="4000" dirty="0"/>
          </a:p>
          <a:p>
            <a:endParaRPr lang="en-US" sz="4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BCCF05-AC42-1CA4-EF9F-6037A9C36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280" y="1917114"/>
            <a:ext cx="7439439" cy="3023772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5ED5081-73FC-508B-5888-ABB6E34FE326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90477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R</a:t>
            </a:r>
            <a:r>
              <a:rPr lang="ru-RU" sz="4000" dirty="0" err="1"/>
              <a:t>esults</a:t>
            </a:r>
            <a:r>
              <a:rPr lang="en-US" sz="4000" dirty="0"/>
              <a:t> and discussion</a:t>
            </a:r>
            <a:r>
              <a:rPr lang="ru-RU" sz="4000" dirty="0"/>
              <a:t> </a:t>
            </a:r>
            <a:endParaRPr lang="en-US" sz="4000" dirty="0"/>
          </a:p>
          <a:p>
            <a:endParaRPr lang="en-US" sz="400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29B8AD0-7DA5-B5AD-7AAF-014F55C00D33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8</a:t>
            </a:r>
          </a:p>
        </p:txBody>
      </p:sp>
      <p:pic>
        <p:nvPicPr>
          <p:cNvPr id="3" name="Рисунок 2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D0AC1D79-098C-BA9D-142C-970EEC089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758" y="1430002"/>
            <a:ext cx="8027201" cy="49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1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R</a:t>
            </a:r>
            <a:r>
              <a:rPr lang="ru-RU" sz="4000" dirty="0" err="1"/>
              <a:t>esults</a:t>
            </a:r>
            <a:r>
              <a:rPr lang="en-US" sz="4000" dirty="0"/>
              <a:t> and discussion </a:t>
            </a:r>
            <a:r>
              <a:rPr lang="ru-RU" sz="4000" dirty="0"/>
              <a:t> </a:t>
            </a:r>
            <a:endParaRPr lang="en-US" sz="4000" dirty="0"/>
          </a:p>
          <a:p>
            <a:endParaRPr lang="en-US" sz="4000" dirty="0"/>
          </a:p>
        </p:txBody>
      </p:sp>
      <p:pic>
        <p:nvPicPr>
          <p:cNvPr id="8" name="Рисунок 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CE7604E-4804-E297-AAAF-8CA7E7B38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514" y="1266336"/>
            <a:ext cx="8906971" cy="2547026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533EE44D-2F03-0F67-E655-EC96D2006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515" y="4052805"/>
            <a:ext cx="8906970" cy="254702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29B8AD0-7DA5-B5AD-7AAF-014F55C00D33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93433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6786" y="1638837"/>
            <a:ext cx="9894371" cy="397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/>
            <a:r>
              <a:rPr lang="en-US" sz="2800" b="0" dirty="0"/>
              <a:t>• Application in chatbots, apps, corporate discussion 	systems, etc. </a:t>
            </a:r>
          </a:p>
          <a:p>
            <a:pPr indent="0"/>
            <a:endParaRPr lang="en-US" sz="2800" b="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E4896CC-DF18-66A9-310E-49894F65FE85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39373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000" dirty="0" err="1"/>
              <a:t>Conclusion</a:t>
            </a:r>
            <a:endParaRPr lang="en-US" sz="40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6786" y="1638837"/>
            <a:ext cx="9894371" cy="397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/>
            <a:r>
              <a:rPr lang="en-US" sz="2800" b="0" dirty="0"/>
              <a:t>• Classification and detoxification of inappropriate texts in 	Russian language </a:t>
            </a:r>
          </a:p>
          <a:p>
            <a:pPr indent="0"/>
            <a:r>
              <a:rPr lang="en-US" sz="2800" b="0" dirty="0"/>
              <a:t>• Further improvements: </a:t>
            </a:r>
          </a:p>
          <a:p>
            <a:pPr indent="0"/>
            <a:r>
              <a:rPr lang="en-US" sz="2800" b="0" dirty="0"/>
              <a:t>	increase the accuracy of the models, especially, in the 	case of detoxification </a:t>
            </a:r>
          </a:p>
          <a:p>
            <a:pPr indent="0"/>
            <a:endParaRPr lang="en-US" sz="2800" b="0" dirty="0"/>
          </a:p>
          <a:p>
            <a:pPr indent="0"/>
            <a:endParaRPr lang="en-US" sz="2800" b="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98E848-56BA-9AD4-0D47-3E4A12B22915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1060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6786" y="609358"/>
            <a:ext cx="10577147" cy="7391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/>
              <a:t>Acknowledgements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6786" y="1638837"/>
            <a:ext cx="9894371" cy="3979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/>
            <a:r>
              <a:rPr lang="en-US" sz="2800" b="0" dirty="0"/>
              <a:t>• Dmitry </a:t>
            </a:r>
            <a:r>
              <a:rPr lang="en-US" sz="2800" b="0" dirty="0" err="1"/>
              <a:t>Ilvovsky</a:t>
            </a:r>
            <a:r>
              <a:rPr lang="en-US" sz="2800" b="0" dirty="0"/>
              <a:t>, Assistant Professor, HSE</a:t>
            </a:r>
          </a:p>
          <a:p>
            <a:pPr indent="0"/>
            <a:r>
              <a:rPr lang="en-US" sz="2800" b="0" dirty="0"/>
              <a:t>• </a:t>
            </a:r>
            <a:r>
              <a:rPr lang="en-US" sz="2800" b="0" dirty="0" err="1"/>
              <a:t>Zhenisbek</a:t>
            </a:r>
            <a:r>
              <a:rPr lang="en-US" sz="2800" b="0" dirty="0"/>
              <a:t> </a:t>
            </a:r>
            <a:r>
              <a:rPr lang="en-US" sz="2800" b="0" dirty="0" err="1"/>
              <a:t>Assylbekov</a:t>
            </a:r>
            <a:r>
              <a:rPr lang="en-US" sz="2800" b="0" dirty="0"/>
              <a:t>, Assistant Professor, Nazarbayev 	University </a:t>
            </a:r>
          </a:p>
          <a:p>
            <a:pPr indent="0"/>
            <a:endParaRPr lang="en-US" sz="2800" b="0" dirty="0"/>
          </a:p>
          <a:p>
            <a:pPr indent="0"/>
            <a:r>
              <a:rPr lang="en-US" sz="2800" b="0" dirty="0"/>
              <a:t> </a:t>
            </a:r>
          </a:p>
          <a:p>
            <a:pPr indent="0"/>
            <a:endParaRPr lang="en-US" sz="2800" b="0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E018C34-1A47-4667-67B9-E39CFA65F18B}"/>
              </a:ext>
            </a:extLst>
          </p:cNvPr>
          <p:cNvSpPr txBox="1">
            <a:spLocks/>
          </p:cNvSpPr>
          <p:nvPr/>
        </p:nvSpPr>
        <p:spPr>
          <a:xfrm>
            <a:off x="10058237" y="6248642"/>
            <a:ext cx="1891392" cy="340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457200" rtl="0" eaLnBrk="1" latinLnBrk="0" hangingPunct="1">
              <a:defRPr sz="1000" kern="1200" cap="all" spc="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88325145"/>
      </p:ext>
    </p:extLst>
  </p:cSld>
  <p:clrMapOvr>
    <a:masterClrMapping/>
  </p:clrMapOvr>
</p:sld>
</file>

<file path=ppt/theme/theme1.xml><?xml version="1.0" encoding="utf-8"?>
<a:theme xmlns:a="http://schemas.openxmlformats.org/drawingml/2006/main" name="General slides">
  <a:themeElements>
    <a:clrScheme name="Basic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7213</TotalTime>
  <Words>582</Words>
  <Application>Microsoft Office PowerPoint</Application>
  <PresentationFormat>Широкоэкранный</PresentationFormat>
  <Paragraphs>102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Arial Unicode MS</vt:lpstr>
      <vt:lpstr>Calibri</vt:lpstr>
      <vt:lpstr>General slides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Daria Tokmeninova</dc:creator>
  <cp:lastModifiedBy>Kundyz Onlabek</cp:lastModifiedBy>
  <cp:revision>36</cp:revision>
  <dcterms:modified xsi:type="dcterms:W3CDTF">2022-06-12T12:43:57Z</dcterms:modified>
</cp:coreProperties>
</file>